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878C8"/>
                </a:solidFill>
                <a:latin typeface="Aptos Display"/>
              </a:defRPr>
            </a:pPr>
            <a:r>
              <a:t>01 •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2D45"/>
                </a:solidFill>
                <a:latin typeface="Aptos Display"/>
              </a:defRPr>
            </a:pPr>
            <a:r>
              <a:t>Introduction &amp; The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878C8"/>
          </a:solidFill>
          <a:ln>
            <a:solidFill>
              <a:srgbClr val="28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0F2D45"/>
                </a:solidFill>
                <a:latin typeface="Aptos Display"/>
              </a:rPr>
              <a:t>ABLE </a:t>
            </a:r>
            <a:r>
              <a:rPr sz="1500">
                <a:solidFill>
                  <a:srgbClr val="202A33"/>
                </a:solidFill>
                <a:latin typeface="Aptos Display"/>
              </a:rPr>
              <a:t>is an accessibility and inclusion platform designed to help persons with disabilities, the elderly, and injured citizens connect with verified volunteers, report physical barriers, and navigate public spaces with dignity and independence.</a:t>
            </a:r>
          </a:p>
          <a:p>
            <a:pPr>
              <a:spcBef>
                <a:spcPts val="800"/>
              </a:spcBef>
              <a:defRPr sz="1300">
                <a:solidFill>
                  <a:srgbClr val="5E6B75"/>
                </a:solidFill>
                <a:latin typeface="Aptos Display"/>
              </a:defRPr>
            </a:pPr>
            <a:r>
              <a:t>The idea is to bring emergency assistance, volunteer dispatch, crowdsourced physical barrier reporting, and verified accessible public transit resources together in one clear, easy-to-navigate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5303520" cy="384048"/>
          </a:xfrm>
          <a:prstGeom prst="roundRect">
            <a:avLst/>
          </a:prstGeom>
          <a:solidFill>
            <a:srgbClr val="0F2D45"/>
          </a:solidFill>
          <a:ln w="19050">
            <a:solidFill>
              <a:srgbClr val="2BA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 Display"/>
              </a:defRPr>
            </a:pPr>
            <a:r>
              <a:t>GOAL: MAKE ACCESSIBLE SUPPORT &amp; VOLUNTEERING EASIER TO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3383280" cy="2468880"/>
          </a:xfrm>
          <a:prstGeom prst="roundRect">
            <a:avLst/>
          </a:prstGeom>
          <a:solidFill>
            <a:srgbClr val="F6F9FC"/>
          </a:solidFill>
          <a:ln w="19050"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878C8"/>
                </a:solidFill>
                <a:latin typeface="Aptos Display"/>
              </a:rPr>
              <a:t>01  </a:t>
            </a:r>
            <a:r>
              <a:rPr sz="1400" b="1">
                <a:solidFill>
                  <a:srgbClr val="0F2D45"/>
                </a:solidFill>
                <a:latin typeface="Aptos Display"/>
              </a:rPr>
              <a:t>On-Demand Assistance</a:t>
            </a:r>
          </a:p>
          <a:p>
            <a:pPr>
              <a:spcAft>
                <a:spcPts val="600"/>
              </a:spcAft>
              <a:defRPr sz="800">
                <a:solidFill>
                  <a:srgbClr val="D7E5F2"/>
                </a:solidFill>
              </a:defRPr>
            </a:pPr>
            <a:r>
              <a:t>————————————————————————————</a:t>
            </a:r>
          </a:p>
          <a:p>
            <a:pPr>
              <a:defRPr sz="1150">
                <a:solidFill>
                  <a:srgbClr val="5E6B75"/>
                </a:solidFill>
                <a:latin typeface="Aptos Display"/>
              </a:defRPr>
            </a:pPr>
            <a:r>
              <a:t>Quick access to verified student &amp; NSS volunteers for immediate on-ground physical guidance and wheelchair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383280"/>
            <a:ext cx="3383280" cy="2468880"/>
          </a:xfrm>
          <a:prstGeom prst="roundRect">
            <a:avLst/>
          </a:prstGeom>
          <a:solidFill>
            <a:srgbClr val="F6F9FC"/>
          </a:solidFill>
          <a:ln w="19050"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878C8"/>
                </a:solidFill>
                <a:latin typeface="Aptos Display"/>
              </a:rPr>
              <a:t>02  </a:t>
            </a:r>
            <a:r>
              <a:rPr sz="1400" b="1">
                <a:solidFill>
                  <a:srgbClr val="0F2D45"/>
                </a:solidFill>
                <a:latin typeface="Aptos Display"/>
              </a:rPr>
              <a:t>Barrier Reporting</a:t>
            </a:r>
          </a:p>
          <a:p>
            <a:pPr>
              <a:spcAft>
                <a:spcPts val="600"/>
              </a:spcAft>
              <a:defRPr sz="800">
                <a:solidFill>
                  <a:srgbClr val="D7E5F2"/>
                </a:solidFill>
              </a:defRPr>
            </a:pPr>
            <a:r>
              <a:t>————————————————————————————</a:t>
            </a:r>
          </a:p>
          <a:p>
            <a:pPr>
              <a:defRPr sz="1150">
                <a:solidFill>
                  <a:srgbClr val="5E6B75"/>
                </a:solidFill>
                <a:latin typeface="Aptos Display"/>
              </a:defRPr>
            </a:pPr>
            <a:r>
              <a:t>Geo-tagged reporting of physical infrastructure barriers like broken ramps, blocked tactile tiles, and out-of-order lifts.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383280"/>
            <a:ext cx="3383280" cy="2468880"/>
          </a:xfrm>
          <a:prstGeom prst="roundRect">
            <a:avLst/>
          </a:prstGeom>
          <a:solidFill>
            <a:srgbClr val="F6F9FC"/>
          </a:solidFill>
          <a:ln w="19050"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56616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878C8"/>
                </a:solidFill>
                <a:latin typeface="Aptos Display"/>
              </a:rPr>
              <a:t>03  </a:t>
            </a:r>
            <a:r>
              <a:rPr sz="1400" b="1">
                <a:solidFill>
                  <a:srgbClr val="0F2D45"/>
                </a:solidFill>
                <a:latin typeface="Aptos Display"/>
              </a:rPr>
              <a:t>Directory &amp; Resources</a:t>
            </a:r>
          </a:p>
          <a:p>
            <a:pPr>
              <a:spcAft>
                <a:spcPts val="600"/>
              </a:spcAft>
              <a:defRPr sz="800">
                <a:solidFill>
                  <a:srgbClr val="D7E5F2"/>
                </a:solidFill>
              </a:defRPr>
            </a:pPr>
            <a:r>
              <a:t>————————————————————————————</a:t>
            </a:r>
          </a:p>
          <a:p>
            <a:pPr>
              <a:defRPr sz="1150">
                <a:solidFill>
                  <a:srgbClr val="5E6B75"/>
                </a:solidFill>
                <a:latin typeface="Aptos Display"/>
              </a:defRPr>
            </a:pPr>
            <a:r>
              <a:t>Curated directory of accessible public spots, inclusive transit maps, legal rights awareness, and assistive schemes.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17920"/>
            <a:ext cx="10698480" cy="9144"/>
          </a:xfrm>
          <a:prstGeom prst="rect">
            <a:avLst/>
          </a:prstGeom>
          <a:solidFill>
            <a:srgbClr val="D7E5F2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263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E6B75"/>
                </a:solidFill>
              </a:defRPr>
            </a:pPr>
            <a:r>
              <a:t>ABLE Platform • Awareness &amp; Assistance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2636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2878C8"/>
                </a:solidFill>
              </a:defRPr>
            </a:pPr>
            <a:r>
              <a:t>ABLE •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878C8"/>
                </a:solidFill>
                <a:latin typeface="Aptos Display"/>
              </a:defRPr>
            </a:pPr>
            <a:r>
              <a:t>02 • USER-FACING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D45"/>
                </a:solidFill>
                <a:latin typeface="Aptos Display"/>
              </a:defRPr>
            </a:pPr>
            <a:r>
              <a:t>Prototype: Home Screen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878C8"/>
          </a:solidFill>
          <a:ln>
            <a:solidFill>
              <a:srgbClr val="28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10896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F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20240" y="1719072"/>
            <a:ext cx="731520" cy="54864"/>
          </a:xfrm>
          <a:prstGeom prst="roundRect">
            <a:avLst/>
          </a:prstGeom>
          <a:solidFill>
            <a:srgbClr val="B8C5D0"/>
          </a:solidFill>
          <a:ln>
            <a:solidFill>
              <a:srgbClr val="B8C5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ite_phon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47088"/>
            <a:ext cx="283464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i="1">
                <a:solidFill>
                  <a:srgbClr val="5E6B75"/>
                </a:solidFill>
              </a:defRPr>
            </a:pPr>
            <a:r>
              <a:t>Live production interface — ABLE Accessibility &amp; Inclusion Platform.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600200"/>
            <a:ext cx="7223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2878C8"/>
                </a:solidFill>
                <a:latin typeface="Aptos Display"/>
              </a:defRPr>
            </a:pPr>
            <a:r>
              <a:t>PROTOTYPE FOCUS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Simple navigation and prominent, high-contrast primary actions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Clear pathways to physical assistance, barrier reporting, and accessible facilities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Mobile-friendly, responsive layout adhering strictly to WCAG touch standards (44px+)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Short, accessible labels paired with assistive screen-reader and voice support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Guides users toward a clear, friction-free next step with zero cognitive overload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Live volunteer dispatcher with Leaflet.js interactive maps and verified NSS student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17920"/>
            <a:ext cx="10698480" cy="9144"/>
          </a:xfrm>
          <a:prstGeom prst="rect">
            <a:avLst/>
          </a:prstGeom>
          <a:solidFill>
            <a:srgbClr val="D7E5F2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E6B75"/>
                </a:solidFill>
              </a:defRPr>
            </a:pPr>
            <a:r>
              <a:t>ABLE Platform • User-Facing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2636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2878C8"/>
                </a:solidFill>
              </a:defRPr>
            </a:pPr>
            <a:r>
              <a:t>ABLE •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